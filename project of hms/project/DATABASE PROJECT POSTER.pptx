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267275" cy="42794238"/>
  <p:notesSz cx="6858000" cy="9144000"/>
  <p:defaultTextStyle>
    <a:defPPr>
      <a:defRPr lang="en-US"/>
    </a:defPPr>
    <a:lvl1pPr marL="0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1pPr>
    <a:lvl2pPr marL="1966712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2pPr>
    <a:lvl3pPr marL="3933424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3pPr>
    <a:lvl4pPr marL="5900135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4pPr>
    <a:lvl5pPr marL="7866847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5pPr>
    <a:lvl6pPr marL="9833559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6pPr>
    <a:lvl7pPr marL="11800271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7pPr>
    <a:lvl8pPr marL="13766983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8pPr>
    <a:lvl9pPr marL="15733695" algn="l" defTabSz="3933424" rtl="0" eaLnBrk="1" latinLnBrk="0" hangingPunct="1">
      <a:defRPr sz="7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" d="100"/>
          <a:sy n="13" d="100"/>
        </p:scale>
        <p:origin x="-2256" y="-150"/>
      </p:cViewPr>
      <p:guideLst>
        <p:guide orient="horz" pos="13479"/>
        <p:guide pos="95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AF62D-0136-41DC-8D03-96EECD965361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7A993-D614-48F5-AFA6-801BCCF32B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1pPr>
    <a:lvl2pPr marL="1966712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2pPr>
    <a:lvl3pPr marL="3933424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3pPr>
    <a:lvl4pPr marL="5900135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4pPr>
    <a:lvl5pPr marL="7866847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5pPr>
    <a:lvl6pPr marL="9833559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6pPr>
    <a:lvl7pPr marL="11800271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7pPr>
    <a:lvl8pPr marL="13766983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8pPr>
    <a:lvl9pPr marL="15733695" algn="l" defTabSz="3933424" rtl="0" eaLnBrk="1" latinLnBrk="0" hangingPunct="1">
      <a:defRPr sz="5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7A993-D614-48F5-AFA6-801BCCF32B4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66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9" y="13293963"/>
            <a:ext cx="25727184" cy="917302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0092" y="24250068"/>
            <a:ext cx="21187093" cy="1093630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96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933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900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8668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833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800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766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733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1B3A-5995-4D00-AB80-A0020ACF7B11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26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4B205-71AA-443E-A660-07971266D6CA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2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09" y="27499262"/>
            <a:ext cx="25727184" cy="8499411"/>
          </a:xfrm>
        </p:spPr>
        <p:txBody>
          <a:bodyPr anchor="t"/>
          <a:lstStyle>
            <a:lvl1pPr algn="l">
              <a:defRPr sz="17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09" y="18138032"/>
            <a:ext cx="25727184" cy="9361235"/>
          </a:xfrm>
        </p:spPr>
        <p:txBody>
          <a:bodyPr anchor="b"/>
          <a:lstStyle>
            <a:lvl1pPr marL="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1pPr>
            <a:lvl2pPr marL="1966712" indent="0">
              <a:buNone/>
              <a:defRPr sz="7800">
                <a:solidFill>
                  <a:schemeClr val="tx1">
                    <a:tint val="75000"/>
                  </a:schemeClr>
                </a:solidFill>
              </a:defRPr>
            </a:lvl2pPr>
            <a:lvl3pPr marL="3933424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3pPr>
            <a:lvl4pPr marL="5900135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4pPr>
            <a:lvl5pPr marL="7866847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5pPr>
            <a:lvl6pPr marL="9833559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6pPr>
            <a:lvl7pPr marL="11800271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7pPr>
            <a:lvl8pPr marL="1376698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8pPr>
            <a:lvl9pPr marL="15733695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685B-1284-49F2-BD1B-0DBEBB8A6C12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07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5027" y="13313768"/>
            <a:ext cx="9962978" cy="37652990"/>
          </a:xfrm>
        </p:spPr>
        <p:txBody>
          <a:bodyPr/>
          <a:lstStyle>
            <a:lvl1pPr>
              <a:defRPr sz="12100"/>
            </a:lvl1pPr>
            <a:lvl2pPr>
              <a:defRPr sz="10300"/>
            </a:lvl2pPr>
            <a:lvl3pPr>
              <a:defRPr sz="8600"/>
            </a:lvl3pPr>
            <a:lvl4pPr>
              <a:defRPr sz="7800"/>
            </a:lvl4pPr>
            <a:lvl5pPr>
              <a:defRPr sz="7800"/>
            </a:lvl5pPr>
            <a:lvl6pPr>
              <a:defRPr sz="7800"/>
            </a:lvl6pPr>
            <a:lvl7pPr>
              <a:defRPr sz="7800"/>
            </a:lvl7pPr>
            <a:lvl8pPr>
              <a:defRPr sz="7800"/>
            </a:lvl8pPr>
            <a:lvl9pPr>
              <a:defRPr sz="7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02457" y="13313768"/>
            <a:ext cx="9962978" cy="37652990"/>
          </a:xfrm>
        </p:spPr>
        <p:txBody>
          <a:bodyPr/>
          <a:lstStyle>
            <a:lvl1pPr>
              <a:defRPr sz="12100"/>
            </a:lvl1pPr>
            <a:lvl2pPr>
              <a:defRPr sz="10300"/>
            </a:lvl2pPr>
            <a:lvl3pPr>
              <a:defRPr sz="8600"/>
            </a:lvl3pPr>
            <a:lvl4pPr>
              <a:defRPr sz="7800"/>
            </a:lvl4pPr>
            <a:lvl5pPr>
              <a:defRPr sz="7800"/>
            </a:lvl5pPr>
            <a:lvl6pPr>
              <a:defRPr sz="7800"/>
            </a:lvl6pPr>
            <a:lvl7pPr>
              <a:defRPr sz="7800"/>
            </a:lvl7pPr>
            <a:lvl8pPr>
              <a:defRPr sz="7800"/>
            </a:lvl8pPr>
            <a:lvl9pPr>
              <a:defRPr sz="7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0CBC-4775-41A0-967A-BE1875C16F31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5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366" y="1713754"/>
            <a:ext cx="27240548" cy="713237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7" y="9579179"/>
            <a:ext cx="13373303" cy="3992144"/>
          </a:xfrm>
        </p:spPr>
        <p:txBody>
          <a:bodyPr anchor="b"/>
          <a:lstStyle>
            <a:lvl1pPr marL="0" indent="0">
              <a:buNone/>
              <a:defRPr sz="10300" b="1"/>
            </a:lvl1pPr>
            <a:lvl2pPr marL="1966712" indent="0">
              <a:buNone/>
              <a:defRPr sz="8600" b="1"/>
            </a:lvl2pPr>
            <a:lvl3pPr marL="3933424" indent="0">
              <a:buNone/>
              <a:defRPr sz="7800" b="1"/>
            </a:lvl3pPr>
            <a:lvl4pPr marL="5900135" indent="0">
              <a:buNone/>
              <a:defRPr sz="6900" b="1"/>
            </a:lvl4pPr>
            <a:lvl5pPr marL="7866847" indent="0">
              <a:buNone/>
              <a:defRPr sz="6900" b="1"/>
            </a:lvl5pPr>
            <a:lvl6pPr marL="9833559" indent="0">
              <a:buNone/>
              <a:defRPr sz="6900" b="1"/>
            </a:lvl6pPr>
            <a:lvl7pPr marL="11800271" indent="0">
              <a:buNone/>
              <a:defRPr sz="6900" b="1"/>
            </a:lvl7pPr>
            <a:lvl8pPr marL="13766983" indent="0">
              <a:buNone/>
              <a:defRPr sz="6900" b="1"/>
            </a:lvl8pPr>
            <a:lvl9pPr marL="15733695" indent="0">
              <a:buNone/>
              <a:defRPr sz="6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367" y="13571323"/>
            <a:ext cx="13373303" cy="24656221"/>
          </a:xfrm>
        </p:spPr>
        <p:txBody>
          <a:bodyPr/>
          <a:lstStyle>
            <a:lvl1pPr>
              <a:defRPr sz="10300"/>
            </a:lvl1pPr>
            <a:lvl2pPr>
              <a:defRPr sz="8600"/>
            </a:lvl2pPr>
            <a:lvl3pPr>
              <a:defRPr sz="78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361" y="9579179"/>
            <a:ext cx="13378555" cy="3992144"/>
          </a:xfrm>
        </p:spPr>
        <p:txBody>
          <a:bodyPr anchor="b"/>
          <a:lstStyle>
            <a:lvl1pPr marL="0" indent="0">
              <a:buNone/>
              <a:defRPr sz="10300" b="1"/>
            </a:lvl1pPr>
            <a:lvl2pPr marL="1966712" indent="0">
              <a:buNone/>
              <a:defRPr sz="8600" b="1"/>
            </a:lvl2pPr>
            <a:lvl3pPr marL="3933424" indent="0">
              <a:buNone/>
              <a:defRPr sz="7800" b="1"/>
            </a:lvl3pPr>
            <a:lvl4pPr marL="5900135" indent="0">
              <a:buNone/>
              <a:defRPr sz="6900" b="1"/>
            </a:lvl4pPr>
            <a:lvl5pPr marL="7866847" indent="0">
              <a:buNone/>
              <a:defRPr sz="6900" b="1"/>
            </a:lvl5pPr>
            <a:lvl6pPr marL="9833559" indent="0">
              <a:buNone/>
              <a:defRPr sz="6900" b="1"/>
            </a:lvl6pPr>
            <a:lvl7pPr marL="11800271" indent="0">
              <a:buNone/>
              <a:defRPr sz="6900" b="1"/>
            </a:lvl7pPr>
            <a:lvl8pPr marL="13766983" indent="0">
              <a:buNone/>
              <a:defRPr sz="6900" b="1"/>
            </a:lvl8pPr>
            <a:lvl9pPr marL="15733695" indent="0">
              <a:buNone/>
              <a:defRPr sz="6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361" y="13571323"/>
            <a:ext cx="13378555" cy="24656221"/>
          </a:xfrm>
        </p:spPr>
        <p:txBody>
          <a:bodyPr/>
          <a:lstStyle>
            <a:lvl1pPr>
              <a:defRPr sz="10300"/>
            </a:lvl1pPr>
            <a:lvl2pPr>
              <a:defRPr sz="8600"/>
            </a:lvl2pPr>
            <a:lvl3pPr>
              <a:defRPr sz="78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F220E-F3CE-4645-B177-D24E6F366B8D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03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C66B-1A5B-4A42-97E0-F9176593E4F5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7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70BFD-05F0-4177-ABCE-75AD06BEC506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52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366" y="1703846"/>
            <a:ext cx="9957726" cy="7251246"/>
          </a:xfrm>
        </p:spPr>
        <p:txBody>
          <a:bodyPr anchor="b"/>
          <a:lstStyle>
            <a:lvl1pPr algn="l">
              <a:defRPr sz="8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3665" y="1703852"/>
            <a:ext cx="16920250" cy="36523698"/>
          </a:xfrm>
        </p:spPr>
        <p:txBody>
          <a:bodyPr/>
          <a:lstStyle>
            <a:lvl1pPr>
              <a:defRPr sz="13800"/>
            </a:lvl1pPr>
            <a:lvl2pPr>
              <a:defRPr sz="12100"/>
            </a:lvl2pPr>
            <a:lvl3pPr>
              <a:defRPr sz="103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366" y="8955098"/>
            <a:ext cx="9957726" cy="29272452"/>
          </a:xfrm>
        </p:spPr>
        <p:txBody>
          <a:bodyPr/>
          <a:lstStyle>
            <a:lvl1pPr marL="0" indent="0">
              <a:buNone/>
              <a:defRPr sz="6000"/>
            </a:lvl1pPr>
            <a:lvl2pPr marL="1966712" indent="0">
              <a:buNone/>
              <a:defRPr sz="5100"/>
            </a:lvl2pPr>
            <a:lvl3pPr marL="3933424" indent="0">
              <a:buNone/>
              <a:defRPr sz="4300"/>
            </a:lvl3pPr>
            <a:lvl4pPr marL="5900135" indent="0">
              <a:buNone/>
              <a:defRPr sz="3900"/>
            </a:lvl4pPr>
            <a:lvl5pPr marL="7866847" indent="0">
              <a:buNone/>
              <a:defRPr sz="3900"/>
            </a:lvl5pPr>
            <a:lvl6pPr marL="9833559" indent="0">
              <a:buNone/>
              <a:defRPr sz="3900"/>
            </a:lvl6pPr>
            <a:lvl7pPr marL="11800271" indent="0">
              <a:buNone/>
              <a:defRPr sz="3900"/>
            </a:lvl7pPr>
            <a:lvl8pPr marL="13766983" indent="0">
              <a:buNone/>
              <a:defRPr sz="3900"/>
            </a:lvl8pPr>
            <a:lvl9pPr marL="15733695" indent="0">
              <a:buNone/>
              <a:defRPr sz="3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E497-D7E7-46E8-9FC0-59D94E0A1E08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13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597" y="29955972"/>
            <a:ext cx="18160365" cy="3536472"/>
          </a:xfrm>
        </p:spPr>
        <p:txBody>
          <a:bodyPr anchor="b"/>
          <a:lstStyle>
            <a:lvl1pPr algn="l">
              <a:defRPr sz="8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597" y="3823743"/>
            <a:ext cx="18160365" cy="25676543"/>
          </a:xfrm>
        </p:spPr>
        <p:txBody>
          <a:bodyPr/>
          <a:lstStyle>
            <a:lvl1pPr marL="0" indent="0">
              <a:buNone/>
              <a:defRPr sz="13800"/>
            </a:lvl1pPr>
            <a:lvl2pPr marL="1966712" indent="0">
              <a:buNone/>
              <a:defRPr sz="12100"/>
            </a:lvl2pPr>
            <a:lvl3pPr marL="3933424" indent="0">
              <a:buNone/>
              <a:defRPr sz="10300"/>
            </a:lvl3pPr>
            <a:lvl4pPr marL="5900135" indent="0">
              <a:buNone/>
              <a:defRPr sz="8600"/>
            </a:lvl4pPr>
            <a:lvl5pPr marL="7866847" indent="0">
              <a:buNone/>
              <a:defRPr sz="8600"/>
            </a:lvl5pPr>
            <a:lvl6pPr marL="9833559" indent="0">
              <a:buNone/>
              <a:defRPr sz="8600"/>
            </a:lvl6pPr>
            <a:lvl7pPr marL="11800271" indent="0">
              <a:buNone/>
              <a:defRPr sz="8600"/>
            </a:lvl7pPr>
            <a:lvl8pPr marL="13766983" indent="0">
              <a:buNone/>
              <a:defRPr sz="8600"/>
            </a:lvl8pPr>
            <a:lvl9pPr marL="15733695" indent="0">
              <a:buNone/>
              <a:defRPr sz="8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597" y="33492445"/>
            <a:ext cx="18160365" cy="5022375"/>
          </a:xfrm>
        </p:spPr>
        <p:txBody>
          <a:bodyPr/>
          <a:lstStyle>
            <a:lvl1pPr marL="0" indent="0">
              <a:buNone/>
              <a:defRPr sz="6000"/>
            </a:lvl1pPr>
            <a:lvl2pPr marL="1966712" indent="0">
              <a:buNone/>
              <a:defRPr sz="5100"/>
            </a:lvl2pPr>
            <a:lvl3pPr marL="3933424" indent="0">
              <a:buNone/>
              <a:defRPr sz="4300"/>
            </a:lvl3pPr>
            <a:lvl4pPr marL="5900135" indent="0">
              <a:buNone/>
              <a:defRPr sz="3900"/>
            </a:lvl4pPr>
            <a:lvl5pPr marL="7866847" indent="0">
              <a:buNone/>
              <a:defRPr sz="3900"/>
            </a:lvl5pPr>
            <a:lvl6pPr marL="9833559" indent="0">
              <a:buNone/>
              <a:defRPr sz="3900"/>
            </a:lvl6pPr>
            <a:lvl7pPr marL="11800271" indent="0">
              <a:buNone/>
              <a:defRPr sz="3900"/>
            </a:lvl7pPr>
            <a:lvl8pPr marL="13766983" indent="0">
              <a:buNone/>
              <a:defRPr sz="3900"/>
            </a:lvl8pPr>
            <a:lvl9pPr marL="15733695" indent="0">
              <a:buNone/>
              <a:defRPr sz="3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0458-D118-40D1-A187-DB0B81CFFBBC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346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BE5D-1A58-4046-AAF3-B8205310D560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94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57830" y="2288307"/>
            <a:ext cx="5107605" cy="4867844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5026" y="2288307"/>
            <a:ext cx="14818355" cy="4867844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414C-8081-40CF-B59B-4B4D831E4269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61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6" y="1713754"/>
            <a:ext cx="27240548" cy="7132373"/>
          </a:xfrm>
          <a:prstGeom prst="rect">
            <a:avLst/>
          </a:prstGeom>
        </p:spPr>
        <p:txBody>
          <a:bodyPr vert="horz" lIns="393343" tIns="196671" rIns="393343" bIns="19667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6" y="9985334"/>
            <a:ext cx="27240548" cy="28242217"/>
          </a:xfrm>
          <a:prstGeom prst="rect">
            <a:avLst/>
          </a:prstGeom>
        </p:spPr>
        <p:txBody>
          <a:bodyPr vert="horz" lIns="393343" tIns="196671" rIns="393343" bIns="19667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8"/>
            <a:ext cx="7062364" cy="2278396"/>
          </a:xfrm>
          <a:prstGeom prst="rect">
            <a:avLst/>
          </a:prstGeom>
        </p:spPr>
        <p:txBody>
          <a:bodyPr vert="horz" lIns="393343" tIns="196671" rIns="393343" bIns="196671" rtlCol="0" anchor="ctr"/>
          <a:lstStyle>
            <a:lvl1pPr algn="l">
              <a:defRPr sz="5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978E3-40E8-4E1B-B20F-FCD36580536A}" type="datetime1">
              <a:rPr lang="en-US" smtClean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20" y="39663928"/>
            <a:ext cx="9584638" cy="2278396"/>
          </a:xfrm>
          <a:prstGeom prst="rect">
            <a:avLst/>
          </a:prstGeom>
        </p:spPr>
        <p:txBody>
          <a:bodyPr vert="horz" lIns="393343" tIns="196671" rIns="393343" bIns="196671" rtlCol="0" anchor="ctr"/>
          <a:lstStyle>
            <a:lvl1pPr algn="ctr">
              <a:defRPr sz="5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8"/>
            <a:ext cx="7062364" cy="2278396"/>
          </a:xfrm>
          <a:prstGeom prst="rect">
            <a:avLst/>
          </a:prstGeom>
        </p:spPr>
        <p:txBody>
          <a:bodyPr vert="horz" lIns="393343" tIns="196671" rIns="393343" bIns="196671" rtlCol="0" anchor="ctr"/>
          <a:lstStyle>
            <a:lvl1pPr algn="r">
              <a:defRPr sz="5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3485B-6173-45A3-B8F0-3B481F1BF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14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3933424" rtl="0" eaLnBrk="1" latinLnBrk="0" hangingPunct="1">
        <a:spcBef>
          <a:spcPct val="0"/>
        </a:spcBef>
        <a:buNone/>
        <a:defRPr sz="18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75035" indent="-1475035" algn="l" defTabSz="3933424" rtl="0" eaLnBrk="1" latinLnBrk="0" hangingPunct="1">
        <a:spcBef>
          <a:spcPct val="20000"/>
        </a:spcBef>
        <a:buFont typeface="Arial" pitchFamily="34" charset="0"/>
        <a:buChar char="•"/>
        <a:defRPr sz="13800" kern="1200">
          <a:solidFill>
            <a:schemeClr val="tx1"/>
          </a:solidFill>
          <a:latin typeface="+mn-lt"/>
          <a:ea typeface="+mn-ea"/>
          <a:cs typeface="+mn-cs"/>
        </a:defRPr>
      </a:lvl1pPr>
      <a:lvl2pPr marL="3195906" indent="-1229195" algn="l" defTabSz="3933424" rtl="0" eaLnBrk="1" latinLnBrk="0" hangingPunct="1">
        <a:spcBef>
          <a:spcPct val="20000"/>
        </a:spcBef>
        <a:buFont typeface="Arial" pitchFamily="34" charset="0"/>
        <a:buChar char="–"/>
        <a:defRPr sz="12100" kern="1200">
          <a:solidFill>
            <a:schemeClr val="tx1"/>
          </a:solidFill>
          <a:latin typeface="+mn-lt"/>
          <a:ea typeface="+mn-ea"/>
          <a:cs typeface="+mn-cs"/>
        </a:defRPr>
      </a:lvl2pPr>
      <a:lvl3pPr marL="4916780" indent="-983356" algn="l" defTabSz="3933424" rtl="0" eaLnBrk="1" latinLnBrk="0" hangingPunct="1">
        <a:spcBef>
          <a:spcPct val="20000"/>
        </a:spcBef>
        <a:buFont typeface="Arial" pitchFamily="34" charset="0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3pPr>
      <a:lvl4pPr marL="6883491" indent="-983356" algn="l" defTabSz="3933424" rtl="0" eaLnBrk="1" latinLnBrk="0" hangingPunct="1">
        <a:spcBef>
          <a:spcPct val="20000"/>
        </a:spcBef>
        <a:buFont typeface="Arial" pitchFamily="34" charset="0"/>
        <a:buChar char="–"/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850204" indent="-983356" algn="l" defTabSz="3933424" rtl="0" eaLnBrk="1" latinLnBrk="0" hangingPunct="1">
        <a:spcBef>
          <a:spcPct val="20000"/>
        </a:spcBef>
        <a:buFont typeface="Arial" pitchFamily="34" charset="0"/>
        <a:buChar char="»"/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816915" indent="-983356" algn="l" defTabSz="3933424" rtl="0" eaLnBrk="1" latinLnBrk="0" hangingPunct="1">
        <a:spcBef>
          <a:spcPct val="20000"/>
        </a:spcBef>
        <a:buFont typeface="Arial" pitchFamily="34" charset="0"/>
        <a:buChar char="•"/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2783627" indent="-983356" algn="l" defTabSz="3933424" rtl="0" eaLnBrk="1" latinLnBrk="0" hangingPunct="1">
        <a:spcBef>
          <a:spcPct val="20000"/>
        </a:spcBef>
        <a:buFont typeface="Arial" pitchFamily="34" charset="0"/>
        <a:buChar char="•"/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4750339" indent="-983356" algn="l" defTabSz="3933424" rtl="0" eaLnBrk="1" latinLnBrk="0" hangingPunct="1">
        <a:spcBef>
          <a:spcPct val="20000"/>
        </a:spcBef>
        <a:buFont typeface="Arial" pitchFamily="34" charset="0"/>
        <a:buChar char="•"/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6717051" indent="-983356" algn="l" defTabSz="3933424" rtl="0" eaLnBrk="1" latinLnBrk="0" hangingPunct="1">
        <a:spcBef>
          <a:spcPct val="20000"/>
        </a:spcBef>
        <a:buFont typeface="Arial" pitchFamily="34" charset="0"/>
        <a:buChar char="•"/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712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2pPr>
      <a:lvl3pPr marL="3933424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3pPr>
      <a:lvl4pPr marL="5900135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4pPr>
      <a:lvl5pPr marL="7866847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5pPr>
      <a:lvl6pPr marL="9833559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6pPr>
      <a:lvl7pPr marL="11800271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7pPr>
      <a:lvl8pPr marL="13766983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8pPr>
      <a:lvl9pPr marL="15733695" algn="l" defTabSz="3933424" rtl="0" eaLnBrk="1" latinLnBrk="0" hangingPunct="1">
        <a:defRPr sz="7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3" y="42097705"/>
            <a:ext cx="30267275" cy="703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077" y="1"/>
            <a:ext cx="30297352" cy="663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386259" y="191264"/>
            <a:ext cx="21656131" cy="6098587"/>
          </a:xfrm>
          <a:prstGeom prst="rect">
            <a:avLst/>
          </a:prstGeom>
          <a:noFill/>
        </p:spPr>
        <p:txBody>
          <a:bodyPr wrap="square" lIns="96004" tIns="48003" rIns="96004" bIns="48003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         Hospital Management System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 Name: Rabeel Fatima( Reg no:Sp23-BSE-032)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      Instructor: Sir Umar Rasheed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    Department: Computer Science</a:t>
            </a:r>
          </a:p>
          <a:p>
            <a:r>
              <a:rPr lang="en-US" dirty="0" smtClean="0"/>
              <a:t>                 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701" y="1018910"/>
            <a:ext cx="4093256" cy="318409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flipV="1">
            <a:off x="3" y="6638787"/>
            <a:ext cx="14609040" cy="20219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4" tIns="48003" rIns="96004" bIns="48003" spcCol="0"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074145" y="7010980"/>
            <a:ext cx="10530825" cy="1297272"/>
          </a:xfrm>
          <a:prstGeom prst="rect">
            <a:avLst/>
          </a:prstGeom>
          <a:noFill/>
        </p:spPr>
        <p:txBody>
          <a:bodyPr wrap="square" lIns="96004" tIns="48003" rIns="96004" bIns="48003" rtlCol="0">
            <a:spAutoFit/>
          </a:bodyPr>
          <a:lstStyle/>
          <a:p>
            <a:r>
              <a:rPr lang="en-US" dirty="0" smtClean="0"/>
              <a:t>1.Introduction to HMS</a:t>
            </a:r>
            <a:endParaRPr lang="en-US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4092" y="6608770"/>
            <a:ext cx="15090322" cy="205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8106047" y="6948845"/>
            <a:ext cx="9936343" cy="1297272"/>
          </a:xfrm>
          <a:prstGeom prst="rect">
            <a:avLst/>
          </a:prstGeom>
          <a:noFill/>
        </p:spPr>
        <p:txBody>
          <a:bodyPr wrap="square" lIns="96004" tIns="48003" rIns="96004" bIns="48003" rtlCol="0">
            <a:spAutoFit/>
          </a:bodyPr>
          <a:lstStyle/>
          <a:p>
            <a:r>
              <a:rPr lang="en-US" dirty="0" smtClean="0"/>
              <a:t>2.ERD Diagram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4609043" y="6647953"/>
            <a:ext cx="879074" cy="1218884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4" tIns="48003" rIns="96004" bIns="48003" spcCol="0"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885" y="19091876"/>
            <a:ext cx="14572157" cy="11294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0244" tIns="35122" rIns="70244" bIns="35122"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74933" y="18950081"/>
            <a:ext cx="11710187" cy="1271259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r>
              <a:rPr lang="en-US" dirty="0" smtClean="0"/>
              <a:t>   </a:t>
            </a:r>
            <a:r>
              <a:rPr lang="en-US" dirty="0" smtClean="0"/>
              <a:t>               3.Dashboard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13" y="30057858"/>
            <a:ext cx="14597031" cy="13761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0244" tIns="35122" rIns="70244" bIns="35122" rtlCol="0" anchor="ctr"/>
          <a:lstStyle/>
          <a:p>
            <a:pPr algn="ctr"/>
            <a:endParaRPr lang="en-US" dirty="0"/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277" y="29921245"/>
            <a:ext cx="7373171" cy="1512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14841072" y="30031272"/>
            <a:ext cx="647045" cy="120664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0244" tIns="35122" rIns="70244" bIns="35122" rtlCol="0" anchor="ctr"/>
          <a:lstStyle/>
          <a:p>
            <a:pPr algn="ctr"/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290700" y="34515593"/>
            <a:ext cx="12314269" cy="1271259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endParaRPr lang="en-US" dirty="0"/>
          </a:p>
        </p:txBody>
      </p:sp>
      <p:pic>
        <p:nvPicPr>
          <p:cNvPr id="45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0717" y="29921245"/>
            <a:ext cx="5735415" cy="2497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5905" y="29784810"/>
            <a:ext cx="611640" cy="12312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274933" y="9024165"/>
            <a:ext cx="14334110" cy="98126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0244" tIns="35122" rIns="70244" bIns="35122"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40758" y="9163240"/>
            <a:ext cx="12764211" cy="9673559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pPr marL="878053" indent="-878053">
              <a:buFont typeface="Wingdings" pitchFamily="2" charset="2"/>
              <a:buChar char="q"/>
            </a:pPr>
            <a:r>
              <a:rPr lang="en-US" dirty="0"/>
              <a:t>Simple and user-friendly hospital management system</a:t>
            </a:r>
          </a:p>
          <a:p>
            <a:pPr marL="878053" indent="-878053">
              <a:buFont typeface="Wingdings" pitchFamily="2" charset="2"/>
              <a:buChar char="q"/>
            </a:pPr>
            <a:r>
              <a:rPr lang="en-US" dirty="0" smtClean="0"/>
              <a:t>Reduces </a:t>
            </a:r>
            <a:r>
              <a:rPr lang="en-US" dirty="0"/>
              <a:t>manual work</a:t>
            </a:r>
          </a:p>
          <a:p>
            <a:r>
              <a:rPr lang="en-US" dirty="0"/>
              <a:t>Speeds up hospital </a:t>
            </a:r>
            <a:r>
              <a:rPr lang="en-US" dirty="0" smtClean="0"/>
              <a:t>tasks</a:t>
            </a:r>
          </a:p>
          <a:p>
            <a:pPr marL="1143000" indent="-1143000">
              <a:buFont typeface="Wingdings" pitchFamily="2" charset="2"/>
              <a:buChar char="q"/>
            </a:pPr>
            <a:r>
              <a:rPr lang="en-US" dirty="0" smtClean="0"/>
              <a:t>Manages </a:t>
            </a:r>
            <a:r>
              <a:rPr lang="en-US" dirty="0"/>
              <a:t>doctors, patients, appointments, and </a:t>
            </a:r>
            <a:r>
              <a:rPr lang="en-US" dirty="0" smtClean="0"/>
              <a:t>records,</a:t>
            </a:r>
          </a:p>
          <a:p>
            <a:r>
              <a:rPr lang="en-US" dirty="0" smtClean="0"/>
              <a:t>bills,diagnosis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74934" y="31433960"/>
            <a:ext cx="14334108" cy="10663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0244" tIns="35122" rIns="70244" bIns="35122"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5870715" y="32690603"/>
            <a:ext cx="5735415" cy="8953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0244" tIns="35122" rIns="70244" bIns="35122" rtlCol="0" anchor="ctr"/>
          <a:lstStyle/>
          <a:p>
            <a:pPr algn="ctr"/>
            <a:endParaRPr lang="en-US" dirty="0"/>
          </a:p>
        </p:txBody>
      </p:sp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8117" y="19021999"/>
            <a:ext cx="14156234" cy="144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9043" y="19022000"/>
            <a:ext cx="815113" cy="1010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15745793" y="20658528"/>
            <a:ext cx="13523082" cy="8469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0244" tIns="35122" rIns="70244" bIns="35122"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23074219" y="32095679"/>
            <a:ext cx="6555943" cy="94249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0244" tIns="35122" rIns="70244" bIns="35122"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5870716" y="30003023"/>
            <a:ext cx="5735415" cy="2471587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r>
              <a:rPr lang="en-US" dirty="0" smtClean="0"/>
              <a:t>6.System </a:t>
            </a:r>
            <a:r>
              <a:rPr lang="en-US" dirty="0" smtClean="0"/>
              <a:t>  Setup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6338898" y="33168960"/>
            <a:ext cx="4799052" cy="7272902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r>
              <a:rPr lang="en-US" dirty="0" smtClean="0"/>
              <a:t>Platform:</a:t>
            </a:r>
          </a:p>
          <a:p>
            <a:r>
              <a:rPr lang="en-US" dirty="0" smtClean="0"/>
              <a:t> C# Windows    Forms</a:t>
            </a:r>
            <a:br>
              <a:rPr lang="en-US" dirty="0" smtClean="0"/>
            </a:br>
            <a:r>
              <a:rPr lang="en-US" dirty="0" smtClean="0"/>
              <a:t>Database: SQL Server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274933" y="31628464"/>
            <a:ext cx="14071677" cy="9673559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r>
              <a:rPr lang="en-US" b="1" dirty="0"/>
              <a:t>Admin</a:t>
            </a:r>
            <a:r>
              <a:rPr lang="en-US" dirty="0"/>
              <a:t>: Full control (manage doctors, patients, appointments, records, bills, dashboard).</a:t>
            </a:r>
          </a:p>
          <a:p>
            <a:r>
              <a:rPr lang="en-US" b="1" dirty="0"/>
              <a:t>Doctor</a:t>
            </a:r>
            <a:r>
              <a:rPr lang="en-US" dirty="0"/>
              <a:t>: View medical records, suggest medications/surgeries, no add/delete control.</a:t>
            </a:r>
          </a:p>
          <a:p>
            <a:r>
              <a:rPr lang="en-US" b="1" dirty="0"/>
              <a:t>Patient</a:t>
            </a:r>
            <a:r>
              <a:rPr lang="en-US" dirty="0"/>
              <a:t>: Cannot login, only pays bills (status updated by admin).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6006308" y="19158135"/>
            <a:ext cx="9664019" cy="1309605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r>
              <a:rPr lang="en-US" dirty="0" smtClean="0"/>
              <a:t>            </a:t>
            </a:r>
            <a:r>
              <a:rPr lang="en-US" dirty="0" smtClean="0"/>
              <a:t>       4.Entities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23084729" y="29967558"/>
            <a:ext cx="6559622" cy="1271259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r>
              <a:rPr lang="en-US" dirty="0" smtClean="0"/>
              <a:t>    7.Conclusion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23498627" y="32529237"/>
            <a:ext cx="5770248" cy="7272902"/>
          </a:xfrm>
          <a:prstGeom prst="rect">
            <a:avLst/>
          </a:prstGeom>
          <a:noFill/>
        </p:spPr>
        <p:txBody>
          <a:bodyPr wrap="square" lIns="70244" tIns="35122" rIns="70244" bIns="35122" rtlCol="0">
            <a:spAutoFit/>
          </a:bodyPr>
          <a:lstStyle/>
          <a:p>
            <a:r>
              <a:rPr lang="en-US" dirty="0" smtClean="0"/>
              <a:t>The HMS streamlines hospital tasks and improves patient care efficiently.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33" y="20429394"/>
            <a:ext cx="14334110" cy="89279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4716" y="9163240"/>
            <a:ext cx="13519635" cy="910967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3846" y="21247104"/>
            <a:ext cx="1409700" cy="14097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8591" y="22852107"/>
            <a:ext cx="1600209" cy="2041268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7146" y="24910385"/>
            <a:ext cx="19431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4716" y="27244157"/>
            <a:ext cx="1215929" cy="129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260537" y="30031271"/>
            <a:ext cx="123444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5.Functional Requirements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8524385" y="21237693"/>
            <a:ext cx="308174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Doctor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8554549" y="22852107"/>
            <a:ext cx="311340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Patient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8554549" y="24910385"/>
            <a:ext cx="305158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Admin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8429299" y="27320659"/>
            <a:ext cx="937190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Medical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98627" y="21305623"/>
            <a:ext cx="577024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Appointment</a:t>
            </a:r>
            <a:endParaRPr lang="en-US" dirty="0"/>
          </a:p>
        </p:txBody>
      </p:sp>
      <p:pic>
        <p:nvPicPr>
          <p:cNvPr id="39" name="Picture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5905" y="21193585"/>
            <a:ext cx="1336770" cy="1336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0786" y="23060300"/>
            <a:ext cx="1007007" cy="1084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23498627" y="22956203"/>
            <a:ext cx="43434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Bills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19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136</Words>
  <Application>Microsoft Office PowerPoint</Application>
  <PresentationFormat>Custom</PresentationFormat>
  <Paragraphs>30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NC</dc:creator>
  <cp:lastModifiedBy>NC</cp:lastModifiedBy>
  <cp:revision>23</cp:revision>
  <dcterms:created xsi:type="dcterms:W3CDTF">2025-06-12T17:26:24Z</dcterms:created>
  <dcterms:modified xsi:type="dcterms:W3CDTF">2025-06-17T16:18:58Z</dcterms:modified>
</cp:coreProperties>
</file>